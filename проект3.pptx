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1" r:id="rId6"/>
    <p:sldId id="260" r:id="rId7"/>
    <p:sldId id="262" r:id="rId8"/>
    <p:sldId id="263" r:id="rId9"/>
    <p:sldId id="273" r:id="rId10"/>
    <p:sldId id="274" r:id="rId11"/>
    <p:sldId id="272" r:id="rId12"/>
    <p:sldId id="269" r:id="rId13"/>
    <p:sldId id="27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1C4D5-F194-4005-B60F-B7FB925AC96C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6951F-430F-4AC5-BEC4-1CC767AF1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14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249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A03F-A620-3DE9-A6B4-789F663E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057876-1957-596D-03C4-C308B84B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6DD14B-E6F8-8F5B-DFDD-A9EF3379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FE23F-900B-5810-94AC-379CDAB0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6951F-430F-4AC5-BEC4-1CC767AF162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39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44ACA-1C4E-335D-5978-8086D6BC4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46339D-6C41-E1E0-A0CE-38FFF98B6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EAD386-827C-C882-8DC7-4548E62D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904C1-DB24-E546-7B18-FB6F95EA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6B9EE1-3C66-845A-734E-6BE6F0A2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03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3FCE9-1AF2-A4EC-323A-9D892BAA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44D9E8-F7BF-C5CD-0FBD-06CB50163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9C929A-45FB-AC3C-2AF6-0325D356A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9A27F8-F9B3-FA51-415F-52B57C06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91A6B-303B-2395-4D61-12FC4560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27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33E62-91DB-F68C-40C8-A4EC7966F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97AC2F-0D61-B667-987C-DB86C6010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067562-F5F5-861B-57DB-B36FD743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F806EF-06A6-85FB-39BC-425FE734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0A94EE-C026-C9C1-D66A-D8A6C1FA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02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24210-C479-CE92-7F76-34F0F6EF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CE1117-2F90-C7D5-9D2C-C26DB1F83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68A062-5B56-ADA9-87B2-5F21CDF76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2D0DB5-7D77-7CCB-0BBA-3F53E766B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156FD9-328A-D1A2-275B-888A5F1E8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3C690B-475A-0E39-2A99-47FEC6F8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65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61B1D1-811A-6EA5-2F42-4FA33AA4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5AF090-D7FA-2554-8303-97F7A535F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5F6900-A4B0-F7B8-6BAA-4628A3000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FDECBB-C5DE-AE6C-1A30-640847445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94536E0-E414-6B69-07AF-DBEF35EEE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0CE3ED2-A1D2-3385-1BC5-BCA57306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1B1E99-5643-0A53-F71D-BE153B8E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0B4682-C557-D84D-D665-59FBA4AA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07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77456-0B1D-70CD-851E-6353012C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35062F-DBBA-654B-DE01-4BFF5883C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C51E5C-B268-FA28-DF69-F69AE0626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C2BB45-7AE2-0E9B-F24A-F5A21F7B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875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8746F5-831A-7744-C03C-FE4CFA1D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FB081F-DFF5-88B8-AF45-B754AF72A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A4A5C1-DA27-90BB-5FC7-717112F0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77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6EB3A-F633-4569-E347-3E5482357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FEE946-65C3-910E-1B91-A6E7E7434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CDE71E-641C-8FE6-D226-7FD40CB14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BD5E79-E213-CEB4-8E0D-0C52CF1A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35950A-1E5C-896D-DD5C-06D5C576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14D15B-316A-CE02-AA86-32B672B7D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78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96CAC-285D-BC5E-4F2C-C2AEBF6E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6620DE-D021-46D3-A69C-765A3C0B1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6D1DB8-3FF2-94C9-CB1E-B1F45AEFD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460403-990E-1243-F5B1-9363FFD38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344B75-62ED-F8C2-13BB-6F5E45BB8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4443D8-1E7C-489B-5312-8DB0A759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57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51C952-0AB0-F0F4-0852-C8D289D0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7DD19A-F880-6483-45A0-E69EFF41B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A5BE49-6D06-9DCD-E8CB-E7BADBB06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44733D-1585-C848-B9AE-4C2DB034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5CE831-3E6F-BB7B-9A41-84423A5B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068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6124FD9-E7D0-9E59-235B-03B4CE75A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BA2673-61A4-F4F6-03AA-FE7BFFBA3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3E7F88-4AE6-E443-E1DA-E041EE2CB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B56983-2DE2-4FE7-407A-AC303783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18B7BF-A2B3-FE41-1B4A-1DDDC681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279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54A9B-F53C-77CB-FA97-39EC648A6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ED73B5-2A15-EBD3-2520-E67885B08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35997F-CD4C-AE29-78D5-F3FB80098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016E-951E-4276-9CFA-C491F5BC6E9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838460-354B-75EF-E886-49099E46B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E9FDCA-5E8C-B9B7-E467-258516D6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A816F-1301-481E-A8FA-C7CC3F8F0B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71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C13F759-19D2-B41F-822A-B0E64359493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90476" cy="6912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902A41-6CFA-C041-2D0C-817848419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763"/>
            <a:ext cx="9144000" cy="2387600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Проект </a:t>
            </a:r>
            <a:r>
              <a:rPr lang="ru-RU" b="1" dirty="0" smtClean="0">
                <a:solidFill>
                  <a:schemeClr val="bg1"/>
                </a:solidFill>
              </a:rPr>
              <a:t>№</a:t>
            </a:r>
            <a:r>
              <a:rPr lang="en-US" b="1" dirty="0" smtClean="0">
                <a:solidFill>
                  <a:schemeClr val="bg1"/>
                </a:solidFill>
              </a:rPr>
              <a:t>3</a:t>
            </a:r>
            <a:r>
              <a:rPr lang="ru-RU" b="1" dirty="0" smtClean="0">
                <a:solidFill>
                  <a:schemeClr val="bg1"/>
                </a:solidFill>
              </a:rPr>
              <a:t>. </a:t>
            </a:r>
            <a:r>
              <a:rPr lang="ru-RU" b="1" dirty="0">
                <a:solidFill>
                  <a:schemeClr val="bg1"/>
                </a:solidFill>
              </a:rPr>
              <a:t/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 smtClean="0">
                <a:solidFill>
                  <a:schemeClr val="bg1"/>
                </a:solidFill>
              </a:rPr>
              <a:t>Тетрис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78A1F3-4BB8-1AFD-5C49-0617AA854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100" y="5070475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</a:rPr>
              <a:t>Группа: 4.407-1</a:t>
            </a:r>
          </a:p>
          <a:p>
            <a:pPr algn="l"/>
            <a:r>
              <a:rPr lang="ru-RU" dirty="0">
                <a:solidFill>
                  <a:schemeClr val="bg1"/>
                </a:solidFill>
              </a:rPr>
              <a:t>Проект подготовили: 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ru-RU" dirty="0" smtClean="0">
                <a:solidFill>
                  <a:schemeClr val="bg1"/>
                </a:solidFill>
              </a:rPr>
              <a:t>Шуба Константин (менеджер</a:t>
            </a:r>
            <a:r>
              <a:rPr lang="ru-RU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algn="l"/>
            <a:r>
              <a:rPr lang="ru-RU" dirty="0" err="1" smtClean="0">
                <a:solidFill>
                  <a:schemeClr val="bg1"/>
                </a:solidFill>
              </a:rPr>
              <a:t>Фарзалиев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ru-RU" dirty="0" err="1" smtClean="0">
                <a:solidFill>
                  <a:schemeClr val="bg1"/>
                </a:solidFill>
              </a:rPr>
              <a:t>Теймур</a:t>
            </a:r>
            <a:r>
              <a:rPr lang="ru-RU" dirty="0" smtClean="0">
                <a:solidFill>
                  <a:schemeClr val="bg1"/>
                </a:solidFill>
              </a:rPr>
              <a:t> (разработчик</a:t>
            </a:r>
            <a:r>
              <a:rPr lang="ru-RU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;</a:t>
            </a:r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lang="ru-RU" dirty="0" smtClean="0">
                <a:solidFill>
                  <a:schemeClr val="bg1"/>
                </a:solidFill>
              </a:rPr>
              <a:t>Мартынюк Артём (</a:t>
            </a:r>
            <a:r>
              <a:rPr lang="ru-RU" dirty="0" err="1" smtClean="0">
                <a:solidFill>
                  <a:schemeClr val="bg1"/>
                </a:solidFill>
              </a:rPr>
              <a:t>тестировщик</a:t>
            </a:r>
            <a:r>
              <a:rPr lang="ru-RU" dirty="0">
                <a:solidFill>
                  <a:schemeClr val="bg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45556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9A100391-9988-53E1-1A4D-7084E0340CB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E26B0D-FBE6-173F-86E6-0565357F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78575"/>
          </a:xfrm>
        </p:spPr>
        <p:txBody>
          <a:bodyPr>
            <a:noAutofit/>
          </a:bodyPr>
          <a:lstStyle/>
          <a:p>
            <a:pPr lvl="0"/>
            <a:r>
              <a:rPr lang="ru-RU" sz="5400" b="1" dirty="0">
                <a:solidFill>
                  <a:schemeClr val="bg1"/>
                </a:solidFill>
              </a:rPr>
              <a:t>Название</a:t>
            </a:r>
            <a:r>
              <a:rPr lang="ru-RU" sz="2400" dirty="0">
                <a:solidFill>
                  <a:schemeClr val="bg1"/>
                </a:solidFill>
              </a:rPr>
              <a:t/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/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3200" dirty="0">
                <a:solidFill>
                  <a:schemeClr val="bg1"/>
                </a:solidFill>
              </a:rPr>
              <a:t>Программа </a:t>
            </a:r>
            <a:r>
              <a:rPr lang="ru-RU" sz="3200" smtClean="0">
                <a:solidFill>
                  <a:schemeClr val="bg1"/>
                </a:solidFill>
              </a:rPr>
              <a:t>«Тетрис»</a:t>
            </a:r>
            <a:r>
              <a:rPr lang="ru-RU" sz="2400" dirty="0">
                <a:solidFill>
                  <a:schemeClr val="bg1"/>
                </a:solidFill>
              </a:rPr>
              <a:t/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 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5400" b="1" dirty="0">
                <a:solidFill>
                  <a:schemeClr val="bg1"/>
                </a:solidFill>
              </a:rPr>
              <a:t>Цель и актуальность проекта</a:t>
            </a:r>
            <a:r>
              <a:rPr lang="ru-RU" sz="2400" dirty="0">
                <a:solidFill>
                  <a:schemeClr val="bg1"/>
                </a:solidFill>
              </a:rPr>
              <a:t/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/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Целью проекта является разработка компьютерной игры «Тетрис» с графическим интерфейсом, реализованной на языке </a:t>
            </a:r>
            <a:r>
              <a:rPr lang="ru-RU" sz="2000" dirty="0" err="1">
                <a:solidFill>
                  <a:schemeClr val="bg1"/>
                </a:solidFill>
              </a:rPr>
              <a:t>Python</a:t>
            </a:r>
            <a:r>
              <a:rPr lang="ru-RU" sz="2000" dirty="0">
                <a:solidFill>
                  <a:schemeClr val="bg1"/>
                </a:solidFill>
              </a:rPr>
              <a:t>. Программа должна обеспечивать полноценный игровой процесс: управление фигурами, подсчёт очков, изменение уровня сложности и взаимодействие пользователя с интерфейсом.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/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Актуальность проекта заключается в том, что «Тетрис» является известной во всём мире логической игрой с простыми правилами, направленной на развитие мышления. Благодаря своей доступности и понятному игровому процессу игра остаётся популярной среди пользователей различных возрастов.</a:t>
            </a:r>
          </a:p>
        </p:txBody>
      </p:sp>
    </p:spTree>
    <p:extLst>
      <p:ext uri="{BB962C8B-B14F-4D97-AF65-F5344CB8AC3E}">
        <p14:creationId xmlns:p14="http://schemas.microsoft.com/office/powerpoint/2010/main" val="294404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5B4DE-F2A4-0CB1-09EA-5DB2A447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F7EDE52F-D068-5D34-7691-3BBA7545B5A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16141-50A4-493E-4A45-AF8AB2C0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dirty="0">
                <a:solidFill>
                  <a:schemeClr val="bg1"/>
                </a:solidFill>
              </a:rPr>
              <a:t>Задачи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BABAF-0B1F-223E-E0E9-9A3FCAD150CE}"/>
              </a:ext>
            </a:extLst>
          </p:cNvPr>
          <p:cNvSpPr txBox="1"/>
          <p:nvPr/>
        </p:nvSpPr>
        <p:spPr>
          <a:xfrm>
            <a:off x="838200" y="1690688"/>
            <a:ext cx="1051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3200" dirty="0">
                <a:solidFill>
                  <a:schemeClr val="bg1"/>
                </a:solidFill>
              </a:rPr>
              <a:t>Для достижения поставленной цели необходимо решить следующие задачи: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Разработать игровое поле размером 10×20 клеток.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Реализовать генерацию случайных фигур.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Создать механизм перемещения и вращения фигур.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Реализовать проверку столкновений фигур с границами поля и другими блоками.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Добавить фиксацию фигур после приземления.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Реализовать удаление заполненных линий.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Добавить систему подсчёта очков и уровней.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Реализовать увеличение скорости игры с ростом уровня.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Создать графический интерфейс пользователя.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Реализовать главное меню и кнопки управления игрой.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Добавить экран завершения игры.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Обеспечить корректную работу программы без сбоев.</a:t>
            </a:r>
          </a:p>
          <a:p>
            <a:endParaRPr lang="ru-RU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26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B2293-4634-34D9-979B-14116D91A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F389557E-386D-20D0-B7C4-9BEB8E4AF34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90E30-B455-254B-5780-25ABBCCDA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361" y="347541"/>
            <a:ext cx="10515600" cy="1325563"/>
          </a:xfrm>
        </p:spPr>
        <p:txBody>
          <a:bodyPr>
            <a:noAutofit/>
          </a:bodyPr>
          <a:lstStyle/>
          <a:p>
            <a:r>
              <a:rPr lang="ru-RU" sz="5400" b="1" dirty="0">
                <a:solidFill>
                  <a:schemeClr val="bg1"/>
                </a:solidFill>
              </a:rPr>
              <a:t>Функциональные </a:t>
            </a:r>
            <a:r>
              <a:rPr lang="ru-RU" sz="5400" b="1" dirty="0" smtClean="0">
                <a:solidFill>
                  <a:schemeClr val="bg1"/>
                </a:solidFill>
              </a:rPr>
              <a:t>требования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95285-FC57-A670-7423-FA4F822B10E3}"/>
              </a:ext>
            </a:extLst>
          </p:cNvPr>
          <p:cNvSpPr txBox="1"/>
          <p:nvPr/>
        </p:nvSpPr>
        <p:spPr>
          <a:xfrm>
            <a:off x="816660" y="1436688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запуск игры через главное меню;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отображение игрового поля;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отображение текущего количества очков;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отображение уровня сложности;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генерация случайных фигур;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перемещение фигур влево и вправо;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ускоренное опускание фигур вниз;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вращение фигур;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автоматическое движение фигур вниз;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фиксация фигуры при столкновении;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удаление полностью заполненных линий;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увеличение уровня сложности после очистки нескольких линий;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увеличение скорости игры;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возможность перезапуска игры;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завершение игры при заполнении верхней части поля;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возможность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выхода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из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программы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36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5">
            <a:extLst>
              <a:ext uri="{FF2B5EF4-FFF2-40B4-BE49-F238E27FC236}">
                <a16:creationId xmlns:a16="http://schemas.microsoft.com/office/drawing/2014/main" id="{F389557E-386D-20D0-B7C4-9BEB8E4AF3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5080" cy="68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9180" y="365125"/>
            <a:ext cx="10445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 smtClean="0">
                <a:solidFill>
                  <a:schemeClr val="bg1"/>
                </a:solidFill>
              </a:rPr>
              <a:t>Нефункциональные требования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3530" y="1690688"/>
            <a:ext cx="88362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простой и понятный интерфейс;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стабильная работа приложения;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корректная обработка пользовательского ввода;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высокая читаемость исходного кода;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использование объектно-ориентированного подхода;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минимальные системные требования;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возможность запуска на большинстве компьютеров с установленным </a:t>
            </a:r>
            <a:r>
              <a:rPr lang="ru-RU" sz="2000" dirty="0" err="1">
                <a:solidFill>
                  <a:schemeClr val="bg1"/>
                </a:solidFill>
              </a:rPr>
              <a:t>Python</a:t>
            </a:r>
            <a:r>
              <a:rPr lang="ru-RU" sz="2000" dirty="0">
                <a:solidFill>
                  <a:schemeClr val="bg1"/>
                </a:solidFill>
              </a:rPr>
              <a:t>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удобство дальнейшего расширения </a:t>
            </a:r>
            <a:r>
              <a:rPr lang="ru-RU" sz="2000" dirty="0" smtClean="0">
                <a:solidFill>
                  <a:schemeClr val="bg1"/>
                </a:solidFill>
              </a:rPr>
              <a:t>проекта</a:t>
            </a:r>
            <a:r>
              <a:rPr lang="en-US" sz="2000" dirty="0" smtClean="0">
                <a:solidFill>
                  <a:schemeClr val="bg1"/>
                </a:solidFill>
              </a:rPr>
              <a:t>;</a:t>
            </a:r>
            <a:endParaRPr lang="ru-RU" sz="2000" dirty="0">
              <a:solidFill>
                <a:schemeClr val="bg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9976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E24B2-47FD-0002-323F-17816D5A8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182AE14A-3624-BF4F-98A1-43E543F84C0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D6C4B-A765-4D4F-B899-64F4FCCF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>
                <a:solidFill>
                  <a:schemeClr val="bg1"/>
                </a:solidFill>
              </a:rPr>
              <a:t>Используемые технологии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0EAAC-9B18-0E1A-C3C8-40DE1C57BBDB}"/>
              </a:ext>
            </a:extLst>
          </p:cNvPr>
          <p:cNvSpPr txBox="1"/>
          <p:nvPr/>
        </p:nvSpPr>
        <p:spPr>
          <a:xfrm>
            <a:off x="968083" y="2246463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800" dirty="0" err="1">
                <a:solidFill>
                  <a:schemeClr val="bg1"/>
                </a:solidFill>
              </a:rPr>
              <a:t>Python</a:t>
            </a:r>
            <a:r>
              <a:rPr lang="ru-RU" sz="2800" dirty="0">
                <a:solidFill>
                  <a:schemeClr val="bg1"/>
                </a:solidFill>
              </a:rPr>
              <a:t> — простой и быстрый для разработки;</a:t>
            </a:r>
          </a:p>
          <a:p>
            <a:pPr lvl="0"/>
            <a:r>
              <a:rPr lang="en-US" sz="2800" dirty="0" err="1">
                <a:solidFill>
                  <a:schemeClr val="bg1"/>
                </a:solidFill>
              </a:rPr>
              <a:t>Tkinter</a:t>
            </a:r>
            <a:r>
              <a:rPr lang="ru-RU" sz="2800" dirty="0">
                <a:solidFill>
                  <a:schemeClr val="bg1"/>
                </a:solidFill>
              </a:rPr>
              <a:t> — создание графического интерфейса</a:t>
            </a:r>
            <a:r>
              <a:rPr lang="en-US" sz="2800" dirty="0">
                <a:solidFill>
                  <a:schemeClr val="bg1"/>
                </a:solidFill>
              </a:rPr>
              <a:t>;</a:t>
            </a:r>
            <a:endParaRPr lang="ru-RU" sz="2800" dirty="0">
              <a:solidFill>
                <a:schemeClr val="bg1"/>
              </a:solidFill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Pillow</a:t>
            </a:r>
            <a:r>
              <a:rPr lang="ru-RU" sz="2800" dirty="0">
                <a:solidFill>
                  <a:schemeClr val="bg1"/>
                </a:solidFill>
              </a:rPr>
              <a:t> — загрузка и отображение фонового изображения в игре.</a:t>
            </a:r>
          </a:p>
        </p:txBody>
      </p:sp>
    </p:spTree>
    <p:extLst>
      <p:ext uri="{BB962C8B-B14F-4D97-AF65-F5344CB8AC3E}">
        <p14:creationId xmlns:p14="http://schemas.microsoft.com/office/powerpoint/2010/main" val="3889234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C4CCE-57A4-787D-A3AD-E68EA39F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1306F53B-9E87-511A-C649-F08D0267883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  <a:ln>
            <a:solidFill>
              <a:schemeClr val="accent2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ECC5D-C483-D7A7-CFB6-8E9E720B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</a:rPr>
              <a:t>Функционал</a:t>
            </a:r>
            <a:endParaRPr lang="ru-RU" sz="5400" dirty="0">
              <a:solidFill>
                <a:schemeClr val="bg1"/>
              </a:solidFill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3112120" cy="4387362"/>
          </a:xfrm>
          <a:prstGeom prst="rect">
            <a:avLst/>
          </a:prstGeom>
        </p:spPr>
      </p:pic>
      <p:cxnSp>
        <p:nvCxnSpPr>
          <p:cNvPr id="32" name="Прямая со стрелкой 31"/>
          <p:cNvCxnSpPr/>
          <p:nvPr/>
        </p:nvCxnSpPr>
        <p:spPr>
          <a:xfrm flipH="1">
            <a:off x="2892669" y="3367454"/>
            <a:ext cx="2567354" cy="7054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 flipH="1">
            <a:off x="2804746" y="3956538"/>
            <a:ext cx="3006969" cy="5275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 flipH="1">
            <a:off x="2804746" y="4457700"/>
            <a:ext cx="3596054" cy="7913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60023" y="3138798"/>
            <a:ext cx="2444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Название игры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811715" y="3724741"/>
            <a:ext cx="3004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Кнопка для запуска игры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22472" y="4306287"/>
            <a:ext cx="2873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Кнопка для выхода из игры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303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241-3A0B-F48D-DF24-41203B4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213DA-1B87-C057-3822-F17B34AF1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>
                <a:solidFill>
                  <a:schemeClr val="bg1"/>
                </a:solidFill>
              </a:rPr>
              <a:t>Функционал </a:t>
            </a:r>
            <a:r>
              <a:rPr lang="ru-RU" sz="5400" b="1" dirty="0" smtClean="0">
                <a:solidFill>
                  <a:schemeClr val="bg1"/>
                </a:solidFill>
              </a:rPr>
              <a:t>(Игровой процесс):</a:t>
            </a:r>
            <a:endParaRPr lang="ru-RU" sz="54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385" y="1565030"/>
            <a:ext cx="3557954" cy="4976632"/>
          </a:xfrm>
          <a:prstGeom prst="rect">
            <a:avLst/>
          </a:prstGeom>
        </p:spPr>
      </p:pic>
      <p:cxnSp>
        <p:nvCxnSpPr>
          <p:cNvPr id="9" name="Прямая со стрелкой 8"/>
          <p:cNvCxnSpPr/>
          <p:nvPr/>
        </p:nvCxnSpPr>
        <p:spPr>
          <a:xfrm flipH="1" flipV="1">
            <a:off x="1907931" y="2004646"/>
            <a:ext cx="3068515" cy="1758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>
            <a:off x="1978269" y="2356338"/>
            <a:ext cx="2998177" cy="2637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H="1" flipV="1">
            <a:off x="2066192" y="2813538"/>
            <a:ext cx="2910254" cy="1758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H="1">
            <a:off x="2057400" y="3222136"/>
            <a:ext cx="3006969" cy="6618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64369" y="1819953"/>
            <a:ext cx="257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Количество очков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76446" y="2189285"/>
            <a:ext cx="1885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Текущий</a:t>
            </a:r>
            <a:r>
              <a:rPr lang="ru-RU" dirty="0" smtClean="0"/>
              <a:t> </a:t>
            </a:r>
            <a:r>
              <a:rPr lang="ru-RU" dirty="0" smtClean="0">
                <a:solidFill>
                  <a:schemeClr val="bg1"/>
                </a:solidFill>
              </a:rPr>
              <a:t>уровень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50811" y="2646457"/>
            <a:ext cx="3270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Кнопка для перезапуска игры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64369" y="3070946"/>
            <a:ext cx="5421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Кнопка для </a:t>
            </a:r>
            <a:r>
              <a:rPr lang="ru-RU" dirty="0">
                <a:solidFill>
                  <a:schemeClr val="bg1"/>
                </a:solidFill>
              </a:rPr>
              <a:t>з</a:t>
            </a:r>
            <a:r>
              <a:rPr lang="ru-RU" dirty="0" smtClean="0">
                <a:solidFill>
                  <a:schemeClr val="bg1"/>
                </a:solidFill>
              </a:rPr>
              <a:t>авершения игры и закрытия программы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11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16213DA-1B87-C057-3822-F17B34AF138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b="1" dirty="0" smtClean="0">
                <a:solidFill>
                  <a:schemeClr val="bg1"/>
                </a:solidFill>
              </a:rPr>
              <a:t>Функционал (Игровой процесс):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10453" y="2002693"/>
            <a:ext cx="66645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На экране появляется фигура случайного цвета. Со временем она падает вниз, падение фигуры можно ускорить, если нажать стрелку вниз, стрелками влево и вправо можно перемещать фигуру влево и вправо. Если нажать стрелку вверх фигура повернётся на 90 градусов вправо.</a:t>
            </a:r>
            <a:endParaRPr lang="ru-RU" dirty="0"/>
          </a:p>
        </p:txBody>
      </p:sp>
      <p:pic>
        <p:nvPicPr>
          <p:cNvPr id="11" name="Объект 10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93" y="1843088"/>
            <a:ext cx="1594109" cy="2227750"/>
          </a:xfr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602" y="1843088"/>
            <a:ext cx="1606360" cy="222775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93" y="4375836"/>
            <a:ext cx="1594109" cy="219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4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16213DA-1B87-C057-3822-F17B34AF138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b="1" dirty="0" smtClean="0">
                <a:solidFill>
                  <a:schemeClr val="bg1"/>
                </a:solidFill>
              </a:rPr>
              <a:t>Функционал (Игровой процесс):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64369" y="1851636"/>
            <a:ext cx="63656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Если фигура касается пола или падает на другую фигуру, она останавливается, сверху появляется новая фигура и управлять можно теперь ей. Если построить из фигур горизонтальную линию, блоки фигур образующие линию исчезнут, всё выше этой линии сдвинется вниз, игроку начислят 100 очков за каждую собранную линию.</a:t>
            </a:r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88588"/>
            <a:ext cx="1700103" cy="2418556"/>
          </a:xfr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769" y="1788588"/>
            <a:ext cx="1749134" cy="241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44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5">
            <a:extLst>
              <a:ext uri="{FF2B5EF4-FFF2-40B4-BE49-F238E27FC236}">
                <a16:creationId xmlns:a16="http://schemas.microsoft.com/office/drawing/2014/main" id="{678B5A6C-C803-EEE4-2B91-BA56A4CFAD5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16213DA-1B87-C057-3822-F17B34AF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ru-RU" sz="5400" b="1" dirty="0">
                <a:solidFill>
                  <a:schemeClr val="bg1"/>
                </a:solidFill>
              </a:rPr>
              <a:t>Функционал </a:t>
            </a:r>
            <a:r>
              <a:rPr lang="ru-RU" sz="5400" b="1" dirty="0" smtClean="0">
                <a:solidFill>
                  <a:schemeClr val="bg1"/>
                </a:solidFill>
              </a:rPr>
              <a:t>(Игровой процесс):</a:t>
            </a:r>
            <a:endParaRPr lang="ru-RU" sz="54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26" y="1459523"/>
            <a:ext cx="3102607" cy="51339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79731" y="1690688"/>
            <a:ext cx="53523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Каждые 500 очков уровень повышается и скорость падения фигур увеличивается. Если пространство заполнится блоками доверху, то игра остановится и появится уведомление. После этого или ещё во время игры можно нажать кнопки </a:t>
            </a:r>
            <a:r>
              <a:rPr lang="en-US" dirty="0" smtClean="0">
                <a:solidFill>
                  <a:schemeClr val="bg1"/>
                </a:solidFill>
              </a:rPr>
              <a:t>“</a:t>
            </a:r>
            <a:r>
              <a:rPr lang="ru-RU" dirty="0" smtClean="0">
                <a:solidFill>
                  <a:schemeClr val="bg1"/>
                </a:solidFill>
              </a:rPr>
              <a:t>Заново</a:t>
            </a:r>
            <a:r>
              <a:rPr lang="en-US" dirty="0" smtClean="0">
                <a:solidFill>
                  <a:schemeClr val="bg1"/>
                </a:solidFill>
              </a:rPr>
              <a:t>”</a:t>
            </a:r>
            <a:r>
              <a:rPr lang="ru-RU" dirty="0" smtClean="0">
                <a:solidFill>
                  <a:schemeClr val="bg1"/>
                </a:solidFill>
              </a:rPr>
              <a:t> и </a:t>
            </a:r>
            <a:r>
              <a:rPr lang="en-US" dirty="0" smtClean="0">
                <a:solidFill>
                  <a:schemeClr val="bg1"/>
                </a:solidFill>
              </a:rPr>
              <a:t>”</a:t>
            </a:r>
            <a:r>
              <a:rPr lang="ru-RU" dirty="0" smtClean="0">
                <a:solidFill>
                  <a:schemeClr val="bg1"/>
                </a:solidFill>
              </a:rPr>
              <a:t>Выйти</a:t>
            </a:r>
            <a:r>
              <a:rPr lang="en-US" dirty="0" smtClean="0">
                <a:solidFill>
                  <a:schemeClr val="bg1"/>
                </a:solidFill>
              </a:rPr>
              <a:t>”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886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42EC-B949-79A3-B5C5-2C35C061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11EB648A-5977-8034-D269-9E1C2259388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045FEB-2EC3-ED47-9CEF-7A8D6C8E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0564"/>
          </a:xfrm>
        </p:spPr>
        <p:txBody>
          <a:bodyPr>
            <a:noAutofit/>
          </a:bodyPr>
          <a:lstStyle/>
          <a:p>
            <a:r>
              <a:rPr lang="ru-RU" sz="5400" b="1" dirty="0">
                <a:solidFill>
                  <a:schemeClr val="bg1"/>
                </a:solidFill>
              </a:rPr>
              <a:t>Заключение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5BA87-368D-38A4-E567-7A9AEBF3050E}"/>
              </a:ext>
            </a:extLst>
          </p:cNvPr>
          <p:cNvSpPr txBox="1"/>
          <p:nvPr/>
        </p:nvSpPr>
        <p:spPr>
          <a:xfrm>
            <a:off x="816660" y="1225689"/>
            <a:ext cx="10515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В ходе выполнения проекта был разработан программный продукт «Тетрис</a:t>
            </a:r>
            <a:r>
              <a:rPr lang="ru-RU" sz="2000" dirty="0" smtClean="0">
                <a:solidFill>
                  <a:schemeClr val="bg1"/>
                </a:solidFill>
              </a:rPr>
              <a:t>».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В процессе работы были определены требования к программе, реализован алгоритм генерации и падения </a:t>
            </a:r>
            <a:r>
              <a:rPr lang="ru-RU" sz="2000" dirty="0" smtClean="0">
                <a:solidFill>
                  <a:schemeClr val="bg1"/>
                </a:solidFill>
              </a:rPr>
              <a:t>фигур, обработка </a:t>
            </a:r>
            <a:r>
              <a:rPr lang="ru-RU" sz="2000" dirty="0">
                <a:solidFill>
                  <a:schemeClr val="bg1"/>
                </a:solidFill>
              </a:rPr>
              <a:t>вращений, перемещений и коллизий, а также подсчёт очков и учёт линий. Создан графический </a:t>
            </a:r>
            <a:r>
              <a:rPr lang="ru-RU" sz="2000" dirty="0" smtClean="0">
                <a:solidFill>
                  <a:schemeClr val="bg1"/>
                </a:solidFill>
              </a:rPr>
              <a:t>интерфейс, </a:t>
            </a:r>
            <a:r>
              <a:rPr lang="ru-RU" sz="2000" dirty="0">
                <a:solidFill>
                  <a:schemeClr val="bg1"/>
                </a:solidFill>
              </a:rPr>
              <a:t>включающий игровое поле, отображение </a:t>
            </a:r>
            <a:r>
              <a:rPr lang="ru-RU" sz="2000" dirty="0" smtClean="0">
                <a:solidFill>
                  <a:schemeClr val="bg1"/>
                </a:solidFill>
              </a:rPr>
              <a:t>текущего уровня, </a:t>
            </a:r>
            <a:r>
              <a:rPr lang="ru-RU" sz="2000" dirty="0">
                <a:solidFill>
                  <a:schemeClr val="bg1"/>
                </a:solidFill>
              </a:rPr>
              <a:t>текущий </a:t>
            </a:r>
            <a:r>
              <a:rPr lang="ru-RU" sz="2000" dirty="0" smtClean="0">
                <a:solidFill>
                  <a:schemeClr val="bg1"/>
                </a:solidFill>
              </a:rPr>
              <a:t>счёта </a:t>
            </a:r>
            <a:r>
              <a:rPr lang="ru-RU" sz="2000" dirty="0">
                <a:solidFill>
                  <a:schemeClr val="bg1"/>
                </a:solidFill>
              </a:rPr>
              <a:t>и возможность перезапуска игры.</a:t>
            </a:r>
          </a:p>
          <a:p>
            <a:r>
              <a:rPr lang="ru-RU" sz="2000" dirty="0">
                <a:solidFill>
                  <a:schemeClr val="bg1"/>
                </a:solidFill>
              </a:rPr>
              <a:t>Проведённое тестирование показало корректную работу всех ключевых механик: управление фигурами, удаление заполненных линий, завершение игры при достижении верхней границы поля. Все сценарии использования выполнены успешно.</a:t>
            </a:r>
          </a:p>
          <a:p>
            <a:r>
              <a:rPr lang="ru-RU" sz="2000" dirty="0">
                <a:solidFill>
                  <a:schemeClr val="bg1"/>
                </a:solidFill>
              </a:rPr>
              <a:t>Поставленные цель и задачи проекта достигнуты, разработанное приложение работает стабильно, обладает интуитивно понятным интерфейсом и может быть использовано для досуга и тренировки когнитивных навыков.</a:t>
            </a:r>
          </a:p>
        </p:txBody>
      </p:sp>
    </p:spTree>
    <p:extLst>
      <p:ext uri="{BB962C8B-B14F-4D97-AF65-F5344CB8AC3E}">
        <p14:creationId xmlns:p14="http://schemas.microsoft.com/office/powerpoint/2010/main" val="3240056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14D9-4BA9-E3FC-7029-523133B1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965ACB42-F101-8EDB-3B41-9C57574179F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80" y="0"/>
            <a:ext cx="12235080" cy="6876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E2807-5735-C4E5-64C6-412F11196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0564"/>
          </a:xfrm>
        </p:spPr>
        <p:txBody>
          <a:bodyPr>
            <a:no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</a:rPr>
              <a:t>Ссылка на репозиторий проекта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9C6878-ECC8-278C-DDC3-6C963C8189D6}"/>
              </a:ext>
            </a:extLst>
          </p:cNvPr>
          <p:cNvSpPr txBox="1"/>
          <p:nvPr/>
        </p:nvSpPr>
        <p:spPr>
          <a:xfrm>
            <a:off x="838200" y="3173682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u="sng" dirty="0">
                <a:solidFill>
                  <a:schemeClr val="bg1"/>
                </a:solidFill>
              </a:rPr>
              <a:t>https://github.com/Teymur-44/Tetris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54DFB88-946F-3C78-3AE6-6816F7152956}"/>
              </a:ext>
            </a:extLst>
          </p:cNvPr>
          <p:cNvSpPr txBox="1">
            <a:spLocks/>
          </p:cNvSpPr>
          <p:nvPr/>
        </p:nvSpPr>
        <p:spPr>
          <a:xfrm>
            <a:off x="816660" y="5441951"/>
            <a:ext cx="10515600" cy="8605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b="1" dirty="0">
                <a:solidFill>
                  <a:schemeClr val="bg1"/>
                </a:solidFill>
              </a:rPr>
              <a:t>Спасибо за внимание!</a:t>
            </a:r>
            <a:endParaRPr lang="ru-RU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6368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589</Words>
  <Application>Microsoft Office PowerPoint</Application>
  <PresentationFormat>Широкоэкранный</PresentationFormat>
  <Paragraphs>76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Проект №3.  Тетрис</vt:lpstr>
      <vt:lpstr>Название  Программа «Тетрис»   Цель и актуальность проекта  Целью проекта является разработка компьютерной игры «Тетрис» с графическим интерфейсом, реализованной на языке Python. Программа должна обеспечивать полноценный игровой процесс: управление фигурами, подсчёт очков, изменение уровня сложности и взаимодействие пользователя с интерфейсом.  Актуальность проекта заключается в том, что «Тетрис» является известной во всём мире логической игрой с простыми правилами, направленной на развитие мышления. Благодаря своей доступности и понятному игровому процессу игра остаётся популярной среди пользователей различных возрастов.</vt:lpstr>
      <vt:lpstr>Задачи</vt:lpstr>
      <vt:lpstr>Функциональные требования</vt:lpstr>
      <vt:lpstr>Презентация PowerPoint</vt:lpstr>
      <vt:lpstr>Используемые технологии</vt:lpstr>
      <vt:lpstr>Функционал</vt:lpstr>
      <vt:lpstr>Функционал (Игровой процесс):</vt:lpstr>
      <vt:lpstr>Презентация PowerPoint</vt:lpstr>
      <vt:lpstr>Презентация PowerPoint</vt:lpstr>
      <vt:lpstr>Функционал (Игровой процесс):</vt:lpstr>
      <vt:lpstr>Заключение</vt:lpstr>
      <vt:lpstr>Ссылка на репозиторий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№1.  Генератор паролей</dc:title>
  <dc:creator>Костик</dc:creator>
  <cp:lastModifiedBy>Егор Татар</cp:lastModifiedBy>
  <cp:revision>14</cp:revision>
  <dcterms:created xsi:type="dcterms:W3CDTF">2026-04-08T09:42:58Z</dcterms:created>
  <dcterms:modified xsi:type="dcterms:W3CDTF">2026-05-19T10:25:29Z</dcterms:modified>
</cp:coreProperties>
</file>